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1" r:id="rId2"/>
    <p:sldMasterId id="2147483674" r:id="rId3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6" r:id="rId9"/>
    <p:sldId id="267" r:id="rId10"/>
    <p:sldId id="261" r:id="rId11"/>
    <p:sldId id="262" r:id="rId12"/>
    <p:sldId id="263" r:id="rId13"/>
    <p:sldId id="264" r:id="rId14"/>
    <p:sldId id="265" r:id="rId15"/>
  </p:sldIdLst>
  <p:sldSz cx="12192000" cy="6858000"/>
  <p:notesSz cx="7772400" cy="10058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5050"/>
    <a:srgbClr val="D60093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7" d="100"/>
          <a:sy n="77" d="100"/>
        </p:scale>
        <p:origin x="806" y="67"/>
      </p:cViewPr>
      <p:guideLst>
        <p:guide orient="horz" pos="2160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  <a:defRPr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398963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  <a:defRPr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  <a:defRPr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fld>
            <a:endParaRPr sz="1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1" name="Google Shape;2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12" name="Google Shape;212;p1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fld>
            <a:endParaRPr sz="1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1" name="Google Shape;2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22" name="Google Shape;222;p2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</a:t>
            </a:fld>
            <a:endParaRPr sz="1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0" name="Google Shape;24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fld>
            <a:endParaRPr sz="1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8" name="Google Shape;2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9" name="Google Shape;249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</a:t>
            </a:fld>
            <a:endParaRPr sz="1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8" name="Google Shape;2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9" name="Google Shape;249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</a:t>
            </a:fld>
            <a:endParaRPr sz="1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8" name="Google Shape;2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9" name="Google Shape;249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8</a:t>
            </a:fld>
            <a:endParaRPr sz="1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7" name="Google Shape;2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58" name="Google Shape;258;p6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9</a:t>
            </a:fld>
            <a:endParaRPr sz="1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6" name="Google Shape;2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67" name="Google Shape;267;p7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:notes"/>
          <p:cNvSpPr txBox="1"/>
          <p:nvPr/>
        </p:nvSpPr>
        <p:spPr>
          <a:xfrm>
            <a:off x="4398962" y="9555162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5" name="Google Shape;2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276" name="Google Shape;276;p8:notes"/>
          <p:cNvSpPr txBox="1">
            <a:spLocks noGrp="1"/>
          </p:cNvSpPr>
          <p:nvPr>
            <p:ph type="body" idx="1"/>
          </p:nvPr>
        </p:nvSpPr>
        <p:spPr>
          <a:xfrm>
            <a:off x="777875" y="4776787"/>
            <a:ext cx="6218237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12</a:t>
            </a:fld>
            <a:endParaRPr sz="1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3" name="Google Shape;29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94" name="Google Shape;294;p1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1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1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>
            <a:spLocks noGrp="1"/>
          </p:cNvSpPr>
          <p:nvPr>
            <p:ph type="title"/>
          </p:nvPr>
        </p:nvSpPr>
        <p:spPr>
          <a:xfrm rot="5400000">
            <a:off x="8222193" y="2221971"/>
            <a:ext cx="3975100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2"/>
          <p:cNvSpPr txBox="1">
            <a:spLocks noGrp="1"/>
          </p:cNvSpPr>
          <p:nvPr>
            <p:ph type="body" idx="1"/>
          </p:nvPr>
        </p:nvSpPr>
        <p:spPr>
          <a:xfrm rot="5400000">
            <a:off x="2635250" y="-420687"/>
            <a:ext cx="3975100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3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6" name="Google Shape;96;p3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5"/>
          <p:cNvSpPr txBox="1">
            <a:spLocks noGrp="1"/>
          </p:cNvSpPr>
          <p:nvPr>
            <p:ph type="body" idx="1"/>
          </p:nvPr>
        </p:nvSpPr>
        <p:spPr>
          <a:xfrm>
            <a:off x="609601" y="1600201"/>
            <a:ext cx="5382684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1" name="Google Shape;101;p35"/>
          <p:cNvSpPr txBox="1">
            <a:spLocks noGrp="1"/>
          </p:cNvSpPr>
          <p:nvPr>
            <p:ph type="body" idx="2"/>
          </p:nvPr>
        </p:nvSpPr>
        <p:spPr>
          <a:xfrm>
            <a:off x="6195484" y="1600201"/>
            <a:ext cx="53848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2" name="Google Shape;102;p3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7" name="Google Shape;107;p3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8" name="Google Shape;108;p3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9" name="Google Shape;109;p3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10" name="Google Shape;110;p3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22" name="Google Shape;122;p3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3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4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4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9" name="Google Shape;129;p4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4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9"/>
            <a:ext cx="4524375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4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2"/>
          <p:cNvSpPr txBox="1">
            <a:spLocks noGrp="1"/>
          </p:cNvSpPr>
          <p:nvPr>
            <p:ph type="title"/>
          </p:nvPr>
        </p:nvSpPr>
        <p:spPr>
          <a:xfrm rot="5400000">
            <a:off x="7284774" y="1829066"/>
            <a:ext cx="5849937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42"/>
          <p:cNvSpPr txBox="1">
            <a:spLocks noGrp="1"/>
          </p:cNvSpPr>
          <p:nvPr>
            <p:ph type="body" idx="1"/>
          </p:nvPr>
        </p:nvSpPr>
        <p:spPr>
          <a:xfrm rot="5400000">
            <a:off x="1697831" y="-813592"/>
            <a:ext cx="5849937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4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3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4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 panose="020F0502020204030204"/>
              <a:buNone/>
              <a:defRPr sz="18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4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4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44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4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4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4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67" name="Google Shape;167;p4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4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6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46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2" name="Google Shape;172;p46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3" name="Google Shape;173;p4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4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8" name="Google Shape;178;p4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79" name="Google Shape;179;p4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0" name="Google Shape;180;p4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81" name="Google Shape;181;p4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8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4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4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4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90" name="Google Shape;190;p4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1" name="Google Shape;191;p4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4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5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5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7" name="Google Shape;197;p5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5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1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51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5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5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2"/>
          <p:cNvSpPr txBox="1">
            <a:spLocks noGrp="1"/>
          </p:cNvSpPr>
          <p:nvPr>
            <p:ph type="title"/>
          </p:nvPr>
        </p:nvSpPr>
        <p:spPr>
          <a:xfrm rot="5400000">
            <a:off x="7556236" y="1556015"/>
            <a:ext cx="5307013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52"/>
          <p:cNvSpPr txBox="1">
            <a:spLocks noGrp="1"/>
          </p:cNvSpPr>
          <p:nvPr>
            <p:ph type="body" idx="1"/>
          </p:nvPr>
        </p:nvSpPr>
        <p:spPr>
          <a:xfrm rot="5400000">
            <a:off x="1969294" y="-1086643"/>
            <a:ext cx="530701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5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5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" name="Google Shape;13;p1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" name="Google Shape;14;p15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 panose="02020603050405020304"/>
              <a:buChar char="•"/>
              <a:defRPr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Char char="–"/>
              <a:defRPr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•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–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»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 panose="02020603050405020304"/>
              <a:buChar char="•"/>
              <a:defRPr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Char char="–"/>
              <a:defRPr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•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–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»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1" name="Google Shape;81;p17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8" name="Google Shape;148;p1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9" name="Google Shape;149;p19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 panose="02020603050405020304"/>
              <a:buChar char="•"/>
              <a:defRPr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Char char="–"/>
              <a:defRPr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•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–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»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Relationship Id="rId5" Type="http://schemas.openxmlformats.org/officeDocument/2006/relationships/hyperlink" Target="AERO_Literature_Survey_21_Papers.xlsx" TargetMode="Externa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"/>
          <p:cNvSpPr txBox="1">
            <a:spLocks noGrp="1"/>
          </p:cNvSpPr>
          <p:nvPr>
            <p:ph type="subTitle" idx="4294967295"/>
          </p:nvPr>
        </p:nvSpPr>
        <p:spPr>
          <a:xfrm>
            <a:off x="1302026" y="3605131"/>
            <a:ext cx="9998765" cy="22191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r>
              <a:rPr lang="en-US" sz="1800" b="1" i="0" u="none" strike="noStrike" cap="none" dirty="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PRESENTED BY                                                                                                  GUIDED BY </a:t>
            </a:r>
            <a:endParaRPr sz="3200" b="0" i="0" u="none" strike="noStrike" cap="none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r>
              <a:rPr lang="en-US" sz="1800" b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GOWTHAM  S</a:t>
            </a: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- 2403811724321027                                                  Ms. ADEEBA AAISHA F </a:t>
            </a:r>
            <a:endParaRPr sz="1800" b="1" i="0" u="none" strike="noStrike" cap="none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just" rtl="0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r>
              <a:rPr lang="en-US" sz="1800" b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HARIPRIYA  A</a:t>
            </a: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- 2403811724321031                                                                 </a:t>
            </a:r>
            <a:r>
              <a:rPr lang="en-US" sz="1800" b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TA /</a:t>
            </a: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AIDS</a:t>
            </a:r>
            <a:endParaRPr sz="1800" b="1" i="0" u="none" strike="noStrike" cap="none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just" rtl="0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r>
              <a:rPr lang="en-US" sz="1800" b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HARSHITA</a:t>
            </a: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800" b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</a:t>
            </a: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- 2403811724322032                </a:t>
            </a:r>
            <a:r>
              <a:rPr lang="en-US" sz="1800" b="1" i="0" u="none" strike="noStrike" cap="none" dirty="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																</a:t>
            </a:r>
            <a:endParaRPr sz="3200" b="0" i="0" u="none" strike="noStrike" cap="none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0" name="Google Shape;300;p1"/>
          <p:cNvSpPr/>
          <p:nvPr/>
        </p:nvSpPr>
        <p:spPr>
          <a:xfrm>
            <a:off x="1679575" y="-1684337"/>
            <a:ext cx="3543300" cy="3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01" name="Google Shape;301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"/>
          <p:cNvSpPr/>
          <p:nvPr/>
        </p:nvSpPr>
        <p:spPr>
          <a:xfrm>
            <a:off x="1399761" y="608969"/>
            <a:ext cx="9392478" cy="26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K.RAMAKRISHNAN COLLEGE OF TECHNOLOGY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(AUTONOMOUS), TRICHY</a:t>
            </a:r>
            <a:br>
              <a:rPr lang="en-US" sz="2000" b="1" i="0" u="none" strike="noStrike" cap="none" dirty="0">
                <a:solidFill>
                  <a:srgbClr val="FF00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sz="2000" b="1" i="0" u="none" strike="noStrike" cap="none" dirty="0">
              <a:solidFill>
                <a:srgbClr val="FF006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algn="ctr">
              <a:buSzPts val="3200"/>
            </a:pPr>
            <a:r>
              <a:rPr lang="en-US" sz="2700" b="1" dirty="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</a:t>
            </a:r>
            <a:r>
              <a:rPr lang="en-GB" sz="2700" b="1" dirty="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I-BASED DYNAMIC EMERGENCY RESPONSE ROUTE OPTIMIZATION USING A SEARCH ALGORITHM</a:t>
            </a:r>
            <a:endParaRPr lang="en-US" sz="2700" b="1" i="0" u="none" strike="noStrike" cap="none" dirty="0">
              <a:solidFill>
                <a:srgbClr val="0000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03" name="Google Shape;303;p1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 b="1" dirty="0">
                <a:solidFill>
                  <a:srgbClr val="FF00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OVERVIEW</a:t>
            </a:r>
            <a:endParaRPr sz="3000" b="1" dirty="0">
              <a:solidFill>
                <a:srgbClr val="FF006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5" name="Google Shape;225;p2"/>
          <p:cNvSpPr txBox="1"/>
          <p:nvPr/>
        </p:nvSpPr>
        <p:spPr>
          <a:xfrm>
            <a:off x="1235765" y="1271588"/>
            <a:ext cx="10520363" cy="558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just" rtl="0">
              <a:lnSpc>
                <a:spcPct val="200000"/>
              </a:lnSpc>
              <a:spcBef>
                <a:spcPts val="325"/>
              </a:spcBef>
              <a:spcAft>
                <a:spcPts val="0"/>
              </a:spcAft>
              <a:buSzPts val="2000"/>
              <a:buFont typeface="Times New Roman" panose="02020603050405020304"/>
              <a:buChar char="●"/>
            </a:pPr>
            <a:r>
              <a:rPr lang="en-US" sz="19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Abstract </a:t>
            </a:r>
            <a:endParaRPr sz="19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 panose="02020603050405020304"/>
              <a:buChar char="●"/>
            </a:pPr>
            <a:r>
              <a:rPr lang="en-US" sz="19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 </a:t>
            </a:r>
            <a:endParaRPr sz="19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 panose="02020603050405020304"/>
              <a:buChar char="●"/>
            </a:pPr>
            <a:r>
              <a:rPr lang="en-US" sz="19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Architecture diagram</a:t>
            </a:r>
          </a:p>
          <a:p>
            <a:pPr marL="457200" lvl="0" indent="-355600" algn="just">
              <a:lnSpc>
                <a:spcPct val="200000"/>
              </a:lnSpc>
              <a:buSzPts val="2000"/>
              <a:buFont typeface="Times New Roman" panose="02020603050405020304"/>
              <a:buChar char="●"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1900" b="1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457200" lvl="0" indent="-355600" algn="just">
              <a:lnSpc>
                <a:spcPct val="200000"/>
              </a:lnSpc>
              <a:buSzPts val="2000"/>
              <a:buFont typeface="Times New Roman" panose="02020603050405020304"/>
              <a:buChar char="●"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</a:t>
            </a:r>
            <a:r>
              <a:rPr lang="en-IN" sz="1900" b="1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</a:t>
            </a: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 panose="02020603050405020304"/>
              <a:buChar char="●"/>
            </a:pPr>
            <a:r>
              <a:rPr lang="en-US" sz="19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Existing system </a:t>
            </a:r>
            <a:endParaRPr sz="19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 panose="02020603050405020304"/>
              <a:buChar char="●"/>
            </a:pPr>
            <a:r>
              <a:rPr lang="en-US" sz="19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Proposed system </a:t>
            </a:r>
            <a:endParaRPr sz="19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 panose="02020603050405020304"/>
              <a:buChar char="●"/>
            </a:pPr>
            <a:r>
              <a:rPr lang="en-US" sz="19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Conclusion </a:t>
            </a:r>
            <a:endParaRPr sz="19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 panose="02020603050405020304"/>
              <a:buChar char="●"/>
            </a:pPr>
            <a:r>
              <a:rPr lang="en-US" sz="19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Future enhancement</a:t>
            </a:r>
            <a:endParaRPr sz="19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239395" algn="just" rtl="0">
              <a:lnSpc>
                <a:spcPct val="20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sz="16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26" name="Google Shape;226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r>
              <a:rPr lang="en-US" sz="1200" b="0" i="0" u="none" strike="noStrike" cap="none">
                <a:solidFill>
                  <a:srgbClr val="8B8B8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2/7/20</a:t>
            </a:r>
            <a:endParaRPr sz="1200" b="0" i="0" u="none" strike="noStrike" cap="none">
              <a:solidFill>
                <a:srgbClr val="8B8B8B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3" name="Google Shape;233;p3"/>
          <p:cNvSpPr txBox="1">
            <a:spLocks noGrp="1"/>
          </p:cNvSpPr>
          <p:nvPr>
            <p:ph type="title"/>
          </p:nvPr>
        </p:nvSpPr>
        <p:spPr>
          <a:xfrm>
            <a:off x="2159000" y="304800"/>
            <a:ext cx="760888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 dirty="0">
                <a:solidFill>
                  <a:srgbClr val="FF00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ABSTRACT </a:t>
            </a:r>
            <a:endParaRPr sz="3200" b="1" dirty="0">
              <a:solidFill>
                <a:srgbClr val="FF006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34" name="Google Shape;234;p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"/>
          <p:cNvSpPr txBox="1"/>
          <p:nvPr/>
        </p:nvSpPr>
        <p:spPr>
          <a:xfrm>
            <a:off x="2256184" y="1843971"/>
            <a:ext cx="8816008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001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This project helps emergency vehicles find the best route quickly.</a:t>
            </a:r>
          </a:p>
          <a:p>
            <a:pPr marL="8001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It can be used for ambulances, police vehicles, and fire engines.</a:t>
            </a:r>
          </a:p>
          <a:p>
            <a:pPr marL="8001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system uses the A algorithm* to find the shortest and best route.</a:t>
            </a:r>
          </a:p>
          <a:p>
            <a:pPr marL="8001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It considers traffic conditions and blocked roads while selecting the route.</a:t>
            </a:r>
          </a:p>
          <a:p>
            <a:pPr marL="8001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best route is shown clearly on the map, helping emergency vehicles reach their destination faster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"/>
          <p:cNvSpPr txBox="1">
            <a:spLocks noGrp="1"/>
          </p:cNvSpPr>
          <p:nvPr>
            <p:ph type="title"/>
          </p:nvPr>
        </p:nvSpPr>
        <p:spPr>
          <a:xfrm>
            <a:off x="1981200" y="31481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FF00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 </a:t>
            </a:r>
            <a:endParaRPr sz="3200" b="1">
              <a:solidFill>
                <a:srgbClr val="FF006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43" name="Google Shape;243;p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54485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336213" y="2989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"/>
          <p:cNvSpPr txBox="1"/>
          <p:nvPr/>
        </p:nvSpPr>
        <p:spPr>
          <a:xfrm>
            <a:off x="2243550" y="1903190"/>
            <a:ext cx="7704900" cy="378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001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find the best route for emergency vehicles.</a:t>
            </a:r>
          </a:p>
          <a:p>
            <a:pPr marL="8001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reduce the travel time during emergencies.</a:t>
            </a:r>
          </a:p>
          <a:p>
            <a:pPr marL="8001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consider traffic and blocked roads while finding the route.</a:t>
            </a:r>
          </a:p>
          <a:p>
            <a:pPr marL="8001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use the A algorithm* for efficient route selection.</a:t>
            </a:r>
          </a:p>
          <a:p>
            <a:pPr marL="8001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provide a simple map-based system to display the selected emergency route 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"/>
          <p:cNvSpPr/>
          <p:nvPr/>
        </p:nvSpPr>
        <p:spPr>
          <a:xfrm>
            <a:off x="2714200" y="447375"/>
            <a:ext cx="6934200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 panose="02020603050405020304"/>
              <a:buNone/>
            </a:pPr>
            <a:r>
              <a:rPr lang="en-US" sz="3200" b="1" i="0" u="none" strike="noStrike" cap="none" dirty="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3200" b="1" i="0" u="none" strike="noStrike" cap="none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</a:t>
            </a:r>
            <a:r>
              <a:rPr lang="en-US" sz="2800" b="1" dirty="0">
                <a:solidFill>
                  <a:srgbClr val="FF00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ARCHITECTURE DIAGRAM</a:t>
            </a:r>
            <a:r>
              <a:rPr lang="en-US" sz="2800" b="1" i="0" u="none" strike="noStrike" cap="none" dirty="0">
                <a:solidFill>
                  <a:srgbClr val="FF00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3200" b="1" i="0" u="none" strike="noStrike" cap="none" dirty="0">
              <a:solidFill>
                <a:srgbClr val="FF006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52" name="Google Shape;252;p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Emergency Route Optimizer Architec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735" y="1092835"/>
            <a:ext cx="7885430" cy="53562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"/>
          <p:cNvSpPr/>
          <p:nvPr/>
        </p:nvSpPr>
        <p:spPr>
          <a:xfrm>
            <a:off x="2714200" y="447375"/>
            <a:ext cx="6934200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lvl="0">
              <a:buSzPts val="3200"/>
            </a:pPr>
            <a:r>
              <a:rPr lang="en-US" sz="32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          </a:t>
            </a:r>
            <a:r>
              <a:rPr lang="en-IN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r>
              <a:rPr lang="en-US" sz="28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</a:t>
            </a:r>
            <a:endParaRPr sz="32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pic>
        <p:nvPicPr>
          <p:cNvPr id="252" name="Google Shape;252;p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C26656-9102-F3CA-B2A0-E438D22E29FF}"/>
              </a:ext>
            </a:extLst>
          </p:cNvPr>
          <p:cNvSpPr txBox="1"/>
          <p:nvPr/>
        </p:nvSpPr>
        <p:spPr>
          <a:xfrm>
            <a:off x="2622604" y="2464904"/>
            <a:ext cx="7097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5" action="ppaction://hlinkfile"/>
              </a:rPr>
              <a:t>A</a:t>
            </a:r>
            <a:r>
              <a:rPr lang="en-GB" b="1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5" action="ppaction://hlinkfile"/>
              </a:rPr>
              <a:t>i</a:t>
            </a:r>
            <a:r>
              <a:rPr lang="en-GB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5" action="ppaction://hlinkfile"/>
              </a:rPr>
              <a:t>-based Dynamic Emergency Response Route Optimization Using A Search Algorithm</a:t>
            </a:r>
            <a:endParaRPr lang="en-US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"/>
          <p:cNvSpPr/>
          <p:nvPr/>
        </p:nvSpPr>
        <p:spPr>
          <a:xfrm>
            <a:off x="2714200" y="447375"/>
            <a:ext cx="6934200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lvl="0" algn="ctr">
              <a:buSzPts val="3200"/>
            </a:pPr>
            <a:r>
              <a:rPr lang="en-US" sz="3200" b="1" i="0" u="none" strike="noStrike" cap="none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IN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</a:t>
            </a:r>
            <a:r>
              <a:rPr lang="en-US" sz="28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</a:t>
            </a:r>
            <a:endParaRPr sz="32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pic>
        <p:nvPicPr>
          <p:cNvPr id="252" name="Google Shape;252;p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2822714" y="1938132"/>
            <a:ext cx="7019510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Data – Collect road and traffic information.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Graph – Represent locations and roads as nodes and edges.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A* – Find the best route using the A* algorithm.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Routes – Test with different traffic and road conditions.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Results – Check the route, distance, and travel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 dirty="0">
                <a:solidFill>
                  <a:srgbClr val="FF00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EXISTING SYSTEM</a:t>
            </a:r>
            <a:endParaRPr dirty="0">
              <a:solidFill>
                <a:srgbClr val="FF0066"/>
              </a:solidFill>
            </a:endParaRPr>
          </a:p>
        </p:txBody>
      </p:sp>
      <p:pic>
        <p:nvPicPr>
          <p:cNvPr id="261" name="Google Shape;261;p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6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6"/>
          <p:cNvSpPr txBox="1"/>
          <p:nvPr/>
        </p:nvSpPr>
        <p:spPr>
          <a:xfrm>
            <a:off x="2549493" y="1843971"/>
            <a:ext cx="7508907" cy="378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001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Uses normal GPS/navigation systems for route finding.</a:t>
            </a:r>
          </a:p>
          <a:p>
            <a:pPr marL="8001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Mainly focuses on shortest or fastest route.</a:t>
            </a:r>
          </a:p>
          <a:p>
            <a:pPr marL="8001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May not consider emergency vehicle priority.</a:t>
            </a:r>
          </a:p>
          <a:p>
            <a:pPr marL="8001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Traffic and road conditions may not be handled specifically for emergencies.</a:t>
            </a:r>
          </a:p>
          <a:p>
            <a:pPr marL="8001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Blocked roads can cause delays in emergency situations.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 dirty="0">
                <a:solidFill>
                  <a:srgbClr val="FF00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PROPOSED SYSTEM</a:t>
            </a:r>
            <a:endParaRPr sz="3200" b="1" dirty="0">
              <a:solidFill>
                <a:srgbClr val="FF006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70" name="Google Shape;270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7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7"/>
          <p:cNvSpPr txBox="1"/>
          <p:nvPr/>
        </p:nvSpPr>
        <p:spPr>
          <a:xfrm>
            <a:off x="2743200" y="1997859"/>
            <a:ext cx="7426793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001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Uses A* algorithm to find the best route.</a:t>
            </a:r>
          </a:p>
          <a:p>
            <a:pPr marL="8001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Considers traffic conditions while selecting the route.</a:t>
            </a:r>
          </a:p>
          <a:p>
            <a:pPr marL="8001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Avoids blocked and high-traffic roads.</a:t>
            </a:r>
          </a:p>
          <a:p>
            <a:pPr marL="8001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Supports ambulance, police, and fire vehicles.</a:t>
            </a:r>
          </a:p>
          <a:p>
            <a:pPr marL="8001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Provides a faster and safer emergency route.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 panose="02020603050405020304"/>
              <a:buNone/>
            </a:pPr>
            <a:r>
              <a:rPr lang="en-US" sz="3200" b="1">
                <a:solidFill>
                  <a:srgbClr val="FF00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CONCLUSION </a:t>
            </a:r>
            <a:endParaRPr sz="4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79" name="Google Shape;279;p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2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336212" y="258762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8"/>
          <p:cNvSpPr txBox="1"/>
          <p:nvPr/>
        </p:nvSpPr>
        <p:spPr>
          <a:xfrm>
            <a:off x="2478592" y="1843971"/>
            <a:ext cx="7233227" cy="3168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001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AERO finds the best route for emergency vehicles.</a:t>
            </a:r>
          </a:p>
          <a:p>
            <a:pPr marL="8001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It uses the A* algorithm for route optimization.</a:t>
            </a:r>
          </a:p>
          <a:p>
            <a:pPr marL="8001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It considers traffic and blocked roads.</a:t>
            </a:r>
          </a:p>
          <a:p>
            <a:pPr marL="8001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It helps reduce travel time and delays.</a:t>
            </a:r>
          </a:p>
          <a:p>
            <a:pPr marL="8001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system provides a faster and safer emergency response.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solidFill>
                  <a:srgbClr val="FF00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</a:t>
            </a:r>
            <a:r>
              <a:rPr lang="en-US" sz="3200" b="1">
                <a:solidFill>
                  <a:srgbClr val="FF00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FUTURE ENHANCEMENT             </a:t>
            </a:r>
            <a:endParaRPr sz="3200"/>
          </a:p>
        </p:txBody>
      </p:sp>
      <p:sp>
        <p:nvSpPr>
          <p:cNvPr id="287" name="Google Shape;287;p9"/>
          <p:cNvSpPr txBox="1">
            <a:spLocks noGrp="1"/>
          </p:cNvSpPr>
          <p:nvPr>
            <p:ph type="body" idx="1"/>
          </p:nvPr>
        </p:nvSpPr>
        <p:spPr>
          <a:xfrm>
            <a:off x="3240156" y="1867454"/>
            <a:ext cx="7870099" cy="329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00100"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Add real-time traffic data.</a:t>
            </a:r>
          </a:p>
          <a:p>
            <a:pPr marL="800100"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Add GPS live tracking.</a:t>
            </a:r>
          </a:p>
          <a:p>
            <a:pPr marL="800100"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Use Google Maps/OpenStreetMap integration.</a:t>
            </a:r>
          </a:p>
          <a:p>
            <a:pPr marL="800100"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Add AI-based traffic prediction.</a:t>
            </a:r>
          </a:p>
          <a:p>
            <a:pPr marL="800100"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Add automatic accident detection and alerts.</a:t>
            </a:r>
          </a:p>
        </p:txBody>
      </p:sp>
      <p:sp>
        <p:nvSpPr>
          <p:cNvPr id="288" name="Google Shape;288;p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r>
              <a:rPr lang="en-US"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2/7/20</a:t>
            </a:r>
          </a:p>
        </p:txBody>
      </p:sp>
      <p:pic>
        <p:nvPicPr>
          <p:cNvPr id="289" name="Google Shape;289;p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2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9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336212" y="258762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"/>
          <p:cNvSpPr txBox="1">
            <a:spLocks noGrp="1"/>
          </p:cNvSpPr>
          <p:nvPr>
            <p:ph type="title"/>
          </p:nvPr>
        </p:nvSpPr>
        <p:spPr>
          <a:xfrm>
            <a:off x="1919536" y="256490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465</Words>
  <Application>Microsoft Office PowerPoint</Application>
  <PresentationFormat>Widescreen</PresentationFormat>
  <Paragraphs>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Noto Sans Symbols</vt:lpstr>
      <vt:lpstr>Times New Roman</vt:lpstr>
      <vt:lpstr>Office Theme</vt:lpstr>
      <vt:lpstr>1_Office Theme</vt:lpstr>
      <vt:lpstr>2_Office Theme</vt:lpstr>
      <vt:lpstr>PowerPoint Presentation</vt:lpstr>
      <vt:lpstr>PRESENTATION OVERVIEW</vt:lpstr>
      <vt:lpstr>ABSTRACT </vt:lpstr>
      <vt:lpstr>OBJECTIVE </vt:lpstr>
      <vt:lpstr>PowerPoint Presentation</vt:lpstr>
      <vt:lpstr>PowerPoint Presentation</vt:lpstr>
      <vt:lpstr>PowerPoint Presentation</vt:lpstr>
      <vt:lpstr>EXISTING SYSTEM</vt:lpstr>
      <vt:lpstr>PROPOSED SYSTEM</vt:lpstr>
      <vt:lpstr>CONCLUSION </vt:lpstr>
      <vt:lpstr>                     FUTURE ENHANCEMENT            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Dhayanithi Rajappa</cp:lastModifiedBy>
  <cp:revision>5</cp:revision>
  <dcterms:created xsi:type="dcterms:W3CDTF">2026-10-05T02:08:46Z</dcterms:created>
  <dcterms:modified xsi:type="dcterms:W3CDTF">2026-10-05T08:02:30Z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C9AFEC0A87464FB1BF289A5FE25DA9C5_13</vt:lpwstr>
  </property>
</Properties>
</file>